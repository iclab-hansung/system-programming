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9"/>
  </p:notesMasterIdLst>
  <p:sldIdLst>
    <p:sldId id="315" r:id="rId2"/>
    <p:sldId id="329" r:id="rId3"/>
    <p:sldId id="330" r:id="rId4"/>
    <p:sldId id="331" r:id="rId5"/>
    <p:sldId id="332" r:id="rId6"/>
    <p:sldId id="333" r:id="rId7"/>
    <p:sldId id="33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36305-7B5C-456E-950C-4BBFBBBC427E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A4013-4F96-4652-9661-3F0278000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97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214653-0543-452A-824F-B21D48E28652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Shape 15"/>
          <p:cNvSpPr/>
          <p:nvPr/>
        </p:nvSpPr>
        <p:spPr>
          <a:xfrm>
            <a:off x="2980851" y="616148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Shape 16"/>
          <p:cNvSpPr/>
          <p:nvPr/>
        </p:nvSpPr>
        <p:spPr>
          <a:xfrm>
            <a:off x="588261" y="3356227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Shape 17"/>
          <p:cNvSpPr/>
          <p:nvPr/>
        </p:nvSpPr>
        <p:spPr>
          <a:xfrm>
            <a:off x="320469" y="774266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Shape 18"/>
          <p:cNvSpPr/>
          <p:nvPr/>
        </p:nvSpPr>
        <p:spPr>
          <a:xfrm>
            <a:off x="634948" y="1322620"/>
            <a:ext cx="2538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Shape 21"/>
          <p:cNvSpPr/>
          <p:nvPr/>
        </p:nvSpPr>
        <p:spPr>
          <a:xfrm>
            <a:off x="204936" y="1973638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22"/>
          <p:cNvSpPr/>
          <p:nvPr/>
        </p:nvSpPr>
        <p:spPr>
          <a:xfrm>
            <a:off x="1746676" y="254070"/>
            <a:ext cx="2538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Shape 23"/>
          <p:cNvSpPr/>
          <p:nvPr/>
        </p:nvSpPr>
        <p:spPr>
          <a:xfrm>
            <a:off x="780285" y="2487233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Shape 24"/>
          <p:cNvSpPr/>
          <p:nvPr/>
        </p:nvSpPr>
        <p:spPr>
          <a:xfrm>
            <a:off x="4280210" y="466199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Shape 11"/>
          <p:cNvSpPr/>
          <p:nvPr/>
        </p:nvSpPr>
        <p:spPr>
          <a:xfrm>
            <a:off x="9912101" y="6195103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Shape 12"/>
          <p:cNvSpPr/>
          <p:nvPr/>
        </p:nvSpPr>
        <p:spPr>
          <a:xfrm>
            <a:off x="10468851" y="5633953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Shape 13"/>
          <p:cNvSpPr/>
          <p:nvPr/>
        </p:nvSpPr>
        <p:spPr>
          <a:xfrm>
            <a:off x="11842203" y="4592707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Shape 14"/>
          <p:cNvSpPr/>
          <p:nvPr/>
        </p:nvSpPr>
        <p:spPr>
          <a:xfrm>
            <a:off x="11691526" y="6573028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118976" y="4958253"/>
            <a:ext cx="1902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1818426" y="5649810"/>
            <a:ext cx="1902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Shape 25"/>
          <p:cNvSpPr/>
          <p:nvPr/>
        </p:nvSpPr>
        <p:spPr>
          <a:xfrm>
            <a:off x="10743689" y="6122591"/>
            <a:ext cx="253800" cy="2541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Shape 15"/>
          <p:cNvSpPr/>
          <p:nvPr/>
        </p:nvSpPr>
        <p:spPr>
          <a:xfrm>
            <a:off x="2980851" y="616148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Shape 16"/>
          <p:cNvSpPr/>
          <p:nvPr/>
        </p:nvSpPr>
        <p:spPr>
          <a:xfrm>
            <a:off x="588261" y="3356227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Shape 17"/>
          <p:cNvSpPr/>
          <p:nvPr/>
        </p:nvSpPr>
        <p:spPr>
          <a:xfrm>
            <a:off x="320469" y="774266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Shape 18"/>
          <p:cNvSpPr/>
          <p:nvPr/>
        </p:nvSpPr>
        <p:spPr>
          <a:xfrm>
            <a:off x="634948" y="1322620"/>
            <a:ext cx="2538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Shape 21"/>
          <p:cNvSpPr/>
          <p:nvPr/>
        </p:nvSpPr>
        <p:spPr>
          <a:xfrm>
            <a:off x="204936" y="1973638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Shape 22"/>
          <p:cNvSpPr/>
          <p:nvPr/>
        </p:nvSpPr>
        <p:spPr>
          <a:xfrm>
            <a:off x="1746676" y="254070"/>
            <a:ext cx="2538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Shape 23"/>
          <p:cNvSpPr/>
          <p:nvPr/>
        </p:nvSpPr>
        <p:spPr>
          <a:xfrm>
            <a:off x="780285" y="2487233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Shape 24"/>
          <p:cNvSpPr/>
          <p:nvPr/>
        </p:nvSpPr>
        <p:spPr>
          <a:xfrm>
            <a:off x="4280210" y="466199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Shape 11"/>
          <p:cNvSpPr/>
          <p:nvPr/>
        </p:nvSpPr>
        <p:spPr>
          <a:xfrm>
            <a:off x="9912101" y="6195103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Shape 12"/>
          <p:cNvSpPr/>
          <p:nvPr/>
        </p:nvSpPr>
        <p:spPr>
          <a:xfrm>
            <a:off x="10468851" y="5633953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Shape 13"/>
          <p:cNvSpPr/>
          <p:nvPr/>
        </p:nvSpPr>
        <p:spPr>
          <a:xfrm>
            <a:off x="11842203" y="4592707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14"/>
          <p:cNvSpPr/>
          <p:nvPr/>
        </p:nvSpPr>
        <p:spPr>
          <a:xfrm>
            <a:off x="11691526" y="6573028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19"/>
          <p:cNvSpPr/>
          <p:nvPr/>
        </p:nvSpPr>
        <p:spPr>
          <a:xfrm>
            <a:off x="11118976" y="4958253"/>
            <a:ext cx="1902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Shape 20"/>
          <p:cNvSpPr/>
          <p:nvPr/>
        </p:nvSpPr>
        <p:spPr>
          <a:xfrm>
            <a:off x="11818426" y="5649810"/>
            <a:ext cx="1902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hape 25"/>
          <p:cNvSpPr/>
          <p:nvPr/>
        </p:nvSpPr>
        <p:spPr>
          <a:xfrm>
            <a:off x="10743689" y="6122591"/>
            <a:ext cx="253800" cy="2541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Shape 15"/>
          <p:cNvSpPr/>
          <p:nvPr userDrawn="1"/>
        </p:nvSpPr>
        <p:spPr>
          <a:xfrm>
            <a:off x="2980851" y="616148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Shape 16"/>
          <p:cNvSpPr/>
          <p:nvPr userDrawn="1"/>
        </p:nvSpPr>
        <p:spPr>
          <a:xfrm>
            <a:off x="588261" y="3356227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Shape 17"/>
          <p:cNvSpPr/>
          <p:nvPr userDrawn="1"/>
        </p:nvSpPr>
        <p:spPr>
          <a:xfrm>
            <a:off x="320469" y="774266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Shape 18"/>
          <p:cNvSpPr/>
          <p:nvPr userDrawn="1"/>
        </p:nvSpPr>
        <p:spPr>
          <a:xfrm>
            <a:off x="634948" y="1322620"/>
            <a:ext cx="2538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21"/>
          <p:cNvSpPr/>
          <p:nvPr userDrawn="1"/>
        </p:nvSpPr>
        <p:spPr>
          <a:xfrm>
            <a:off x="204936" y="1973638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Shape 22"/>
          <p:cNvSpPr/>
          <p:nvPr userDrawn="1"/>
        </p:nvSpPr>
        <p:spPr>
          <a:xfrm>
            <a:off x="1746676" y="254070"/>
            <a:ext cx="2538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23"/>
          <p:cNvSpPr/>
          <p:nvPr userDrawn="1"/>
        </p:nvSpPr>
        <p:spPr>
          <a:xfrm>
            <a:off x="780285" y="2487233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24"/>
          <p:cNvSpPr/>
          <p:nvPr userDrawn="1"/>
        </p:nvSpPr>
        <p:spPr>
          <a:xfrm>
            <a:off x="4280210" y="466199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Shape 11"/>
          <p:cNvSpPr/>
          <p:nvPr userDrawn="1"/>
        </p:nvSpPr>
        <p:spPr>
          <a:xfrm>
            <a:off x="9912101" y="6195103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Shape 12"/>
          <p:cNvSpPr/>
          <p:nvPr userDrawn="1"/>
        </p:nvSpPr>
        <p:spPr>
          <a:xfrm>
            <a:off x="10468851" y="5633953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Shape 13"/>
          <p:cNvSpPr/>
          <p:nvPr userDrawn="1"/>
        </p:nvSpPr>
        <p:spPr>
          <a:xfrm>
            <a:off x="11842203" y="4592707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Shape 14"/>
          <p:cNvSpPr/>
          <p:nvPr userDrawn="1"/>
        </p:nvSpPr>
        <p:spPr>
          <a:xfrm>
            <a:off x="11691526" y="6573028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Shape 19"/>
          <p:cNvSpPr/>
          <p:nvPr userDrawn="1"/>
        </p:nvSpPr>
        <p:spPr>
          <a:xfrm>
            <a:off x="11118976" y="4958253"/>
            <a:ext cx="1902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20"/>
          <p:cNvSpPr/>
          <p:nvPr userDrawn="1"/>
        </p:nvSpPr>
        <p:spPr>
          <a:xfrm>
            <a:off x="11818426" y="5649810"/>
            <a:ext cx="1902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Shape 25"/>
          <p:cNvSpPr/>
          <p:nvPr userDrawn="1"/>
        </p:nvSpPr>
        <p:spPr>
          <a:xfrm>
            <a:off x="10743689" y="6122591"/>
            <a:ext cx="253800" cy="2541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64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7611BD-A633-4869-A07A-002886D06DB1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44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 30" descr="connections-0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12192000" cy="85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3213000"/>
            <a:ext cx="10515600" cy="1349475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F3C56E-685D-4B2D-A98B-7C30CBD88CE2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8" name="Shape 32"/>
          <p:cNvGrpSpPr/>
          <p:nvPr/>
        </p:nvGrpSpPr>
        <p:grpSpPr>
          <a:xfrm>
            <a:off x="5232000" y="1163138"/>
            <a:ext cx="1957200" cy="1093200"/>
            <a:chOff x="3593400" y="1760085"/>
            <a:chExt cx="1957200" cy="1093200"/>
          </a:xfrm>
        </p:grpSpPr>
        <p:sp>
          <p:nvSpPr>
            <p:cNvPr id="9" name="Shape 33"/>
            <p:cNvSpPr txBox="1"/>
            <p:nvPr/>
          </p:nvSpPr>
          <p:spPr>
            <a:xfrm>
              <a:off x="3593400" y="1872097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 dirty="0">
                  <a:solidFill>
                    <a:srgbClr val="0091E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6000" b="1" dirty="0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" name="Shape 3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Shape 35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" name="Shape 36"/>
          <p:cNvCxnSpPr>
            <a:endCxn id="10" idx="1"/>
          </p:cNvCxnSpPr>
          <p:nvPr/>
        </p:nvCxnSpPr>
        <p:spPr>
          <a:xfrm>
            <a:off x="5016000" y="1163138"/>
            <a:ext cx="808095" cy="160095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Shape 37"/>
          <p:cNvCxnSpPr/>
          <p:nvPr/>
        </p:nvCxnSpPr>
        <p:spPr>
          <a:xfrm flipH="1" flipV="1">
            <a:off x="5952000" y="693000"/>
            <a:ext cx="258600" cy="470138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Shape 38"/>
          <p:cNvCxnSpPr/>
          <p:nvPr/>
        </p:nvCxnSpPr>
        <p:spPr>
          <a:xfrm rot="10800000" flipH="1">
            <a:off x="6387675" y="841978"/>
            <a:ext cx="95100" cy="3489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713" y="925500"/>
            <a:ext cx="681000" cy="681000"/>
          </a:xfrm>
          <a:prstGeom prst="rect">
            <a:avLst/>
          </a:prstGeom>
        </p:spPr>
      </p:pic>
      <p:pic>
        <p:nvPicPr>
          <p:cNvPr id="16" name="Shape 30" descr="connections-0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12192000" cy="854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Shape 32"/>
          <p:cNvGrpSpPr/>
          <p:nvPr/>
        </p:nvGrpSpPr>
        <p:grpSpPr>
          <a:xfrm>
            <a:off x="5232000" y="1163138"/>
            <a:ext cx="1957200" cy="1093200"/>
            <a:chOff x="3593400" y="1760085"/>
            <a:chExt cx="1957200" cy="1093200"/>
          </a:xfrm>
        </p:grpSpPr>
        <p:sp>
          <p:nvSpPr>
            <p:cNvPr id="18" name="Shape 33"/>
            <p:cNvSpPr txBox="1"/>
            <p:nvPr/>
          </p:nvSpPr>
          <p:spPr>
            <a:xfrm>
              <a:off x="3593400" y="1872097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 dirty="0">
                  <a:solidFill>
                    <a:srgbClr val="0091E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6000" b="1" dirty="0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9" name="Shape 3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Shape 35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" name="Shape 36"/>
          <p:cNvCxnSpPr>
            <a:endCxn id="10" idx="1"/>
          </p:cNvCxnSpPr>
          <p:nvPr/>
        </p:nvCxnSpPr>
        <p:spPr>
          <a:xfrm>
            <a:off x="5016000" y="1163138"/>
            <a:ext cx="808095" cy="160095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Shape 37"/>
          <p:cNvCxnSpPr/>
          <p:nvPr/>
        </p:nvCxnSpPr>
        <p:spPr>
          <a:xfrm flipH="1" flipV="1">
            <a:off x="5952000" y="693000"/>
            <a:ext cx="258600" cy="470138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Shape 38"/>
          <p:cNvCxnSpPr/>
          <p:nvPr/>
        </p:nvCxnSpPr>
        <p:spPr>
          <a:xfrm rot="10800000" flipH="1">
            <a:off x="6387675" y="841978"/>
            <a:ext cx="95100" cy="3489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" name="Shape 30" descr="connections-05.png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12192000" cy="854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Shape 32"/>
          <p:cNvGrpSpPr/>
          <p:nvPr userDrawn="1"/>
        </p:nvGrpSpPr>
        <p:grpSpPr>
          <a:xfrm>
            <a:off x="5232000" y="1163138"/>
            <a:ext cx="1957200" cy="1093200"/>
            <a:chOff x="3593400" y="1760085"/>
            <a:chExt cx="1957200" cy="1093200"/>
          </a:xfrm>
        </p:grpSpPr>
        <p:sp>
          <p:nvSpPr>
            <p:cNvPr id="26" name="Shape 33"/>
            <p:cNvSpPr txBox="1"/>
            <p:nvPr/>
          </p:nvSpPr>
          <p:spPr>
            <a:xfrm>
              <a:off x="3593400" y="1872097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 dirty="0">
                  <a:solidFill>
                    <a:srgbClr val="0091E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6000" b="1" dirty="0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7" name="Shape 3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Shape 35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9" name="Shape 36"/>
          <p:cNvCxnSpPr>
            <a:endCxn id="10" idx="1"/>
          </p:cNvCxnSpPr>
          <p:nvPr userDrawn="1"/>
        </p:nvCxnSpPr>
        <p:spPr>
          <a:xfrm>
            <a:off x="5016000" y="1163138"/>
            <a:ext cx="808095" cy="160095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Shape 37"/>
          <p:cNvCxnSpPr/>
          <p:nvPr userDrawn="1"/>
        </p:nvCxnSpPr>
        <p:spPr>
          <a:xfrm flipH="1" flipV="1">
            <a:off x="5952000" y="693000"/>
            <a:ext cx="258600" cy="470138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Shape 38"/>
          <p:cNvCxnSpPr/>
          <p:nvPr userDrawn="1"/>
        </p:nvCxnSpPr>
        <p:spPr>
          <a:xfrm rot="10800000" flipH="1">
            <a:off x="6387675" y="841978"/>
            <a:ext cx="95100" cy="3489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8136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32" y="-12864"/>
            <a:ext cx="12210732" cy="9158049"/>
          </a:xfrm>
          <a:prstGeom prst="rect">
            <a:avLst/>
          </a:prstGeom>
        </p:spPr>
      </p:pic>
      <p:sp>
        <p:nvSpPr>
          <p:cNvPr id="6" name="Shape 64"/>
          <p:cNvSpPr/>
          <p:nvPr/>
        </p:nvSpPr>
        <p:spPr>
          <a:xfrm>
            <a:off x="-65050" y="-24015"/>
            <a:ext cx="12257049" cy="7329864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85A20A-AAE2-4078-B969-822B2BE9897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32" y="-12864"/>
            <a:ext cx="12210732" cy="9158049"/>
          </a:xfrm>
          <a:prstGeom prst="rect">
            <a:avLst/>
          </a:prstGeom>
        </p:spPr>
      </p:pic>
      <p:sp>
        <p:nvSpPr>
          <p:cNvPr id="9" name="Shape 64"/>
          <p:cNvSpPr/>
          <p:nvPr/>
        </p:nvSpPr>
        <p:spPr>
          <a:xfrm>
            <a:off x="-65050" y="-24015"/>
            <a:ext cx="12257049" cy="7329864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32" y="-12864"/>
            <a:ext cx="12210732" cy="9158049"/>
          </a:xfrm>
          <a:prstGeom prst="rect">
            <a:avLst/>
          </a:prstGeom>
        </p:spPr>
      </p:pic>
      <p:sp>
        <p:nvSpPr>
          <p:cNvPr id="11" name="Shape 64"/>
          <p:cNvSpPr/>
          <p:nvPr userDrawn="1"/>
        </p:nvSpPr>
        <p:spPr>
          <a:xfrm>
            <a:off x="-65050" y="-24015"/>
            <a:ext cx="12257049" cy="7329864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726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25C972-C10D-4BB6-B615-F65CE6379884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587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10993D-1F9D-469F-A8ED-07A1DBE48D2A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413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B93264-0A33-4F0B-B6A4-09B88F2B280E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528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1ED117-7BF7-4E89-B8A8-9B8D606AF15C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6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6DA13C-C9F5-4E69-A6EE-5DF1443D0A0D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982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E7FD94-CA17-4C7E-94C6-D764A915DEB4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41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E983B9-11D1-4395-A6D1-6B61CACE2C3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835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863B22-12F5-4B30-B3CA-3DD3D9348BF9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730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32" y="-12864"/>
            <a:ext cx="12210732" cy="9158049"/>
          </a:xfrm>
          <a:prstGeom prst="rect">
            <a:avLst/>
          </a:prstGeom>
        </p:spPr>
      </p:pic>
      <p:sp>
        <p:nvSpPr>
          <p:cNvPr id="6" name="Shape 64"/>
          <p:cNvSpPr/>
          <p:nvPr/>
        </p:nvSpPr>
        <p:spPr>
          <a:xfrm>
            <a:off x="-65050" y="-24015"/>
            <a:ext cx="12257049" cy="7329864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85A20A-AAE2-4078-B969-822B2BE9897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32" y="-12864"/>
            <a:ext cx="12210732" cy="9158049"/>
          </a:xfrm>
          <a:prstGeom prst="rect">
            <a:avLst/>
          </a:prstGeom>
        </p:spPr>
      </p:pic>
      <p:sp>
        <p:nvSpPr>
          <p:cNvPr id="9" name="Shape 64"/>
          <p:cNvSpPr/>
          <p:nvPr userDrawn="1"/>
        </p:nvSpPr>
        <p:spPr>
          <a:xfrm>
            <a:off x="-65050" y="-24015"/>
            <a:ext cx="12257049" cy="7329864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2096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32" y="-12864"/>
            <a:ext cx="12210732" cy="9158049"/>
          </a:xfrm>
          <a:prstGeom prst="rect">
            <a:avLst/>
          </a:prstGeom>
        </p:spPr>
      </p:pic>
      <p:sp>
        <p:nvSpPr>
          <p:cNvPr id="6" name="Shape 64"/>
          <p:cNvSpPr/>
          <p:nvPr userDrawn="1"/>
        </p:nvSpPr>
        <p:spPr>
          <a:xfrm>
            <a:off x="-65050" y="-24015"/>
            <a:ext cx="12257049" cy="7329864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85A20A-AAE2-4078-B969-822B2BE9897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996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73" b="28693"/>
          <a:stretch/>
        </p:blipFill>
        <p:spPr>
          <a:xfrm>
            <a:off x="7043" y="-10075"/>
            <a:ext cx="5152958" cy="489022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01" t="29397" r="-328" b="-703"/>
          <a:stretch/>
        </p:blipFill>
        <p:spPr>
          <a:xfrm>
            <a:off x="7031999" y="2007108"/>
            <a:ext cx="5152958" cy="4890226"/>
          </a:xfrm>
          <a:prstGeom prst="rect">
            <a:avLst/>
          </a:prstGeom>
        </p:spPr>
      </p:pic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413000"/>
            <a:ext cx="10515600" cy="475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B22FA5F-B411-4632-A256-D695D83E19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25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534988" indent="-534988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맑은 고딕" panose="020B0503020000020004" pitchFamily="50" charset="-127"/>
        <a:buChar char="■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982663" indent="-409575" algn="l" defTabSz="914400" rtl="0" eaLnBrk="1" latinLnBrk="1" hangingPunct="1">
        <a:lnSpc>
          <a:spcPct val="120000"/>
        </a:lnSpc>
        <a:spcBef>
          <a:spcPts val="500"/>
        </a:spcBef>
        <a:buClr>
          <a:schemeClr val="accent6"/>
        </a:buClr>
        <a:buFont typeface="Wingdings" panose="05000000000000000000" pitchFamily="2" charset="2"/>
        <a:buChar char="o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258888" indent="-344488" algn="l" defTabSz="914400" rtl="0" eaLnBrk="1" latinLnBrk="1" hangingPunct="1">
        <a:lnSpc>
          <a:spcPct val="120000"/>
        </a:lnSpc>
        <a:spcBef>
          <a:spcPts val="500"/>
        </a:spcBef>
        <a:buClr>
          <a:schemeClr val="accent2">
            <a:lumMod val="60000"/>
            <a:lumOff val="40000"/>
          </a:schemeClr>
        </a:buClr>
        <a:buFont typeface="Consolas" panose="020B0609020204030204" pitchFamily="49" charset="0"/>
        <a:buChar char="○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>
            <a:lumMod val="75000"/>
          </a:schemeClr>
        </a:buClr>
        <a:buFont typeface="Consolas" panose="020B0609020204030204" pitchFamily="49" charset="0"/>
        <a:buChar char="▬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932688"/>
            <a:ext cx="9144000" cy="3044000"/>
          </a:xfrm>
        </p:spPr>
        <p:txBody>
          <a:bodyPr>
            <a:normAutofit/>
          </a:bodyPr>
          <a:lstStyle/>
          <a:p>
            <a:pPr fontAlgn="base" latinLnBrk="0">
              <a:lnSpc>
                <a:spcPct val="150000"/>
              </a:lnSpc>
            </a:pPr>
            <a:r>
              <a:rPr lang="en-US" altLang="ko-KR" sz="4400" b="0" i="0" dirty="0">
                <a:solidFill>
                  <a:srgbClr val="500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System-programming-example</a:t>
            </a:r>
            <a:br>
              <a:rPr lang="en-US" altLang="ko-KR" sz="4400" b="0" i="0" dirty="0">
                <a:solidFill>
                  <a:srgbClr val="500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4400" b="0" i="0" dirty="0">
                <a:solidFill>
                  <a:srgbClr val="500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사용법</a:t>
            </a:r>
            <a:br>
              <a:rPr lang="en-US" altLang="ko-KR" sz="4400" b="0" i="0" dirty="0">
                <a:solidFill>
                  <a:srgbClr val="500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ko-KR" altLang="en-US" sz="4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14450" y="4772757"/>
            <a:ext cx="9144000" cy="16557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ko-KR" b="0" i="0" dirty="0">
                <a:solidFill>
                  <a:srgbClr val="500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Department of Applied AI, </a:t>
            </a:r>
            <a:r>
              <a:rPr lang="en-US" altLang="ko-KR" b="0" i="0" dirty="0" err="1">
                <a:solidFill>
                  <a:srgbClr val="500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Hansung</a:t>
            </a:r>
            <a:r>
              <a:rPr lang="en-US" altLang="ko-KR" b="0" i="0" dirty="0">
                <a:solidFill>
                  <a:srgbClr val="500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Univ.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ko-KR" i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kmsjames@hansung.ac.kr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ko-KR" altLang="en-US" dirty="0">
                <a:solidFill>
                  <a:srgbClr val="500050"/>
                </a:solidFill>
              </a:rPr>
              <a:t>김명선</a:t>
            </a:r>
            <a:endParaRPr lang="en-US" altLang="ko-KR" b="0" i="0" dirty="0">
              <a:solidFill>
                <a:srgbClr val="50005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22FA5F-B411-4632-A256-D695D83E192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onsolas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onsola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76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6FC0460-5B87-425C-8899-85DDD1A9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1. </a:t>
            </a:r>
            <a:r>
              <a:rPr lang="ko-KR" altLang="en-US" dirty="0"/>
              <a:t>환경 설정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089A3F-0504-4B78-827C-4ADE6BA11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79CDA8-6B6C-4CF4-AA22-6BA62B8E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0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이 논문을 이해하기 위하여 미리 알아야 하는 것은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313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6392" cy="90000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이 논문</a:t>
            </a:r>
            <a:r>
              <a:rPr lang="en-US" altLang="ko-KR" dirty="0"/>
              <a:t>(</a:t>
            </a:r>
            <a:r>
              <a:rPr lang="ko-KR" altLang="en-US" dirty="0"/>
              <a:t>연구</a:t>
            </a:r>
            <a:r>
              <a:rPr lang="en-US" altLang="ko-KR" dirty="0"/>
              <a:t>)</a:t>
            </a:r>
            <a:r>
              <a:rPr lang="ko-KR" altLang="en-US" dirty="0"/>
              <a:t>의 동기</a:t>
            </a:r>
            <a:r>
              <a:rPr lang="en-US" altLang="ko-KR" dirty="0"/>
              <a:t>(Motivation)</a:t>
            </a:r>
            <a:r>
              <a:rPr lang="ko-KR" altLang="en-US" dirty="0"/>
              <a:t>는</a:t>
            </a:r>
            <a:r>
              <a:rPr lang="en-US" altLang="ko-KR" dirty="0"/>
              <a:t>? (</a:t>
            </a:r>
            <a:r>
              <a:rPr lang="ko-KR" altLang="en-US" dirty="0">
                <a:solidFill>
                  <a:srgbClr val="FF0000"/>
                </a:solidFill>
              </a:rPr>
              <a:t>가장 중요 </a:t>
            </a:r>
            <a:r>
              <a:rPr lang="en-US" altLang="ko-KR" dirty="0">
                <a:solidFill>
                  <a:srgbClr val="FF0000"/>
                </a:solidFill>
              </a:rPr>
              <a:t>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도대체 왜 썼나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기존 연구와 뭘 다르게 혹은 새롭게 </a:t>
            </a:r>
            <a:r>
              <a:rPr lang="ko-KR" altLang="en-US" dirty="0" err="1"/>
              <a:t>나타내었나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313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399032" y="2048256"/>
            <a:ext cx="10085832" cy="15819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 논문에서 제안된 기법은 무엇인가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짧게 핵심만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무슨 새로운 </a:t>
            </a:r>
            <a:r>
              <a:rPr lang="en-US" altLang="ko-KR" dirty="0">
                <a:solidFill>
                  <a:srgbClr val="0000FF"/>
                </a:solidFill>
              </a:rPr>
              <a:t>Equation, Theorem, </a:t>
            </a:r>
            <a:r>
              <a:rPr lang="ko-KR" altLang="en-US" dirty="0">
                <a:solidFill>
                  <a:srgbClr val="0000FF"/>
                </a:solidFill>
              </a:rPr>
              <a:t>기법을 읽어주지 말아라</a:t>
            </a:r>
            <a:r>
              <a:rPr lang="en-US" altLang="ko-KR" dirty="0">
                <a:solidFill>
                  <a:srgbClr val="0000FF"/>
                </a:solidFill>
              </a:rPr>
              <a:t>. </a:t>
            </a:r>
            <a:r>
              <a:rPr lang="ko-KR" altLang="en-US" dirty="0">
                <a:solidFill>
                  <a:srgbClr val="0000FF"/>
                </a:solidFill>
              </a:rPr>
              <a:t>그것들의 진짜 물리적인 의미를 설명해야 함</a:t>
            </a:r>
            <a:r>
              <a:rPr lang="en-US" altLang="ko-KR" dirty="0">
                <a:solidFill>
                  <a:srgbClr val="0000FF"/>
                </a:solidFill>
              </a:rPr>
              <a:t>. (</a:t>
            </a:r>
            <a:r>
              <a:rPr lang="ko-KR" altLang="en-US" dirty="0">
                <a:solidFill>
                  <a:srgbClr val="FF0000"/>
                </a:solidFill>
              </a:rPr>
              <a:t>가장 중요 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</a:p>
          <a:p>
            <a:pPr lvl="1"/>
            <a:r>
              <a:rPr lang="ko-KR" altLang="en-US" dirty="0">
                <a:solidFill>
                  <a:srgbClr val="0000FF"/>
                </a:solidFill>
              </a:rPr>
              <a:t>이것이 평가 포인트 </a:t>
            </a:r>
            <a:r>
              <a:rPr lang="en-US" altLang="ko-KR" dirty="0">
                <a:solidFill>
                  <a:srgbClr val="0000FF"/>
                </a:solidFill>
              </a:rPr>
              <a:t>!!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논문에 나온 것을 읽어주는 것은 초딩도 한다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  <a:r>
              <a:rPr lang="ko-KR" altLang="en-US" dirty="0">
                <a:solidFill>
                  <a:srgbClr val="FF0000"/>
                </a:solidFill>
              </a:rPr>
              <a:t>나열식 안됨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91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(</a:t>
            </a:r>
            <a:r>
              <a:rPr lang="ko-KR" altLang="en-US" dirty="0"/>
              <a:t>검증 기법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짧게 중요한 부분만 설명</a:t>
            </a:r>
            <a:endParaRPr lang="en-US" altLang="ko-KR" dirty="0"/>
          </a:p>
          <a:p>
            <a:r>
              <a:rPr lang="ko-KR" altLang="en-US" dirty="0"/>
              <a:t>기존 대비 어떤 부분이 좋아졌는지 그림을 통해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153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331976" y="1456475"/>
            <a:ext cx="10216896" cy="18262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정리 및 나의 의견</a:t>
            </a:r>
            <a:r>
              <a:rPr lang="en-US" altLang="ko-KR" dirty="0"/>
              <a:t>(</a:t>
            </a:r>
            <a:r>
              <a:rPr lang="ko-KR" altLang="en-US" dirty="0">
                <a:solidFill>
                  <a:srgbClr val="FF0000"/>
                </a:solidFill>
              </a:rPr>
              <a:t>가장 중요 원탑 </a:t>
            </a:r>
            <a:r>
              <a:rPr lang="en-US" altLang="ko-KR" dirty="0">
                <a:solidFill>
                  <a:srgbClr val="FF0000"/>
                </a:solidFill>
              </a:rPr>
              <a:t>!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이런 점이 좀 개선 해야겠다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나라면 이렇게 했을 것 같다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여기는 </a:t>
            </a:r>
            <a:r>
              <a:rPr lang="en-US" altLang="ko-KR" dirty="0">
                <a:solidFill>
                  <a:srgbClr val="0000FF"/>
                </a:solidFill>
              </a:rPr>
              <a:t>100</a:t>
            </a:r>
            <a:r>
              <a:rPr lang="ko-KR" altLang="en-US" dirty="0">
                <a:solidFill>
                  <a:srgbClr val="0000FF"/>
                </a:solidFill>
              </a:rPr>
              <a:t>장을 써도 좋다</a:t>
            </a:r>
            <a:r>
              <a:rPr lang="en-US" altLang="ko-KR" dirty="0">
                <a:solidFill>
                  <a:srgbClr val="0000FF"/>
                </a:solidFill>
              </a:rPr>
              <a:t>. </a:t>
            </a:r>
            <a:r>
              <a:rPr lang="ko-KR" altLang="en-US" dirty="0">
                <a:solidFill>
                  <a:srgbClr val="0000FF"/>
                </a:solidFill>
              </a:rPr>
              <a:t>나의 의견이 많을 수록 좋은 평가</a:t>
            </a:r>
            <a:r>
              <a:rPr lang="en-US" altLang="ko-KR" dirty="0">
                <a:solidFill>
                  <a:srgbClr val="0000FF"/>
                </a:solidFill>
              </a:rPr>
              <a:t>!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FA5F-B411-4632-A256-D695D83E192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796491"/>
      </p:ext>
    </p:extLst>
  </p:cSld>
  <p:clrMapOvr>
    <a:masterClrMapping/>
  </p:clrMapOvr>
</p:sld>
</file>

<file path=ppt/theme/theme1.xml><?xml version="1.0" encoding="utf-8"?>
<a:theme xmlns:a="http://schemas.openxmlformats.org/drawingml/2006/main" name="임베디드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Consolas"/>
        <a:ea typeface="나눔스퀘어라운드 ExtraBold"/>
        <a:cs typeface=""/>
      </a:majorFont>
      <a:minorFont>
        <a:latin typeface="Consolas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임베디드" id="{858C6071-13FF-44F6-B7E9-A4CC6586CC91}" vid="{17641AFA-A920-4A88-983F-B497F5621F2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4136</TotalTime>
  <Words>166</Words>
  <Application>Microsoft Office PowerPoint</Application>
  <PresentationFormat>와이드스크린</PresentationFormat>
  <Paragraphs>28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Consolas</vt:lpstr>
      <vt:lpstr>Source Sans Pro</vt:lpstr>
      <vt:lpstr>Wingdings</vt:lpstr>
      <vt:lpstr>임베디드</vt:lpstr>
      <vt:lpstr>System-programming-example 사용법 </vt:lpstr>
      <vt:lpstr>Step 1. 환경 설정</vt:lpstr>
      <vt:lpstr>이 논문을 이해하기 위하여 미리 알아야 하는 것은?</vt:lpstr>
      <vt:lpstr>이 논문(연구)의 동기(Motivation)는? (가장 중요 2)</vt:lpstr>
      <vt:lpstr>이 논문에서 제안된 기법은 무엇인가?</vt:lpstr>
      <vt:lpstr>실험 (검증 기법)</vt:lpstr>
      <vt:lpstr>정리 및 나의 의견(가장 중요 원탑 !)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Myungsun Kim</dc:creator>
  <cp:lastModifiedBy>leeseungjay</cp:lastModifiedBy>
  <cp:revision>281</cp:revision>
  <dcterms:created xsi:type="dcterms:W3CDTF">2019-06-05T04:48:35Z</dcterms:created>
  <dcterms:modified xsi:type="dcterms:W3CDTF">2026-07-28T05:00:15Z</dcterms:modified>
</cp:coreProperties>
</file>